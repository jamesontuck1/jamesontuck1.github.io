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Old Standard TT"/>
      <p:regular r:id="rId20"/>
      <p:bold r:id="rId21"/>
      <p: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8050D8-4B33-4DE7-AAC4-F291C8E1E9FE}">
  <a:tblStyle styleId="{888050D8-4B33-4DE7-AAC4-F291C8E1E9F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regular.fntdata"/><Relationship Id="rId11" Type="http://schemas.openxmlformats.org/officeDocument/2006/relationships/slide" Target="slides/slide5.xml"/><Relationship Id="rId22" Type="http://schemas.openxmlformats.org/officeDocument/2006/relationships/font" Target="fonts/OldStandardTT-italic.fntdata"/><Relationship Id="rId10" Type="http://schemas.openxmlformats.org/officeDocument/2006/relationships/slide" Target="slides/slide4.xml"/><Relationship Id="rId21" Type="http://schemas.openxmlformats.org/officeDocument/2006/relationships/font" Target="fonts/OldStandardTT-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7fdc57743fff6b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7fdc57743fff6b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c6daa34f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c6daa34f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4d7d9ab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14d7d9ab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4d7d9abc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4d7d9ab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1c6daa34fd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1c6daa34f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c6daa34f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c6daa34f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4d7d9abc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4d7d9abc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4d7d9abc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4d7d9abc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c6daa34fd_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c6daa34fd_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5294e1e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5294e1e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4d7d9abc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4d7d9abc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52a89c1b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52a89c1b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kaggle.com/datasets/mirichoi0218/insurance/dat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Analyzing Factors Influencing Insurance Cost</a:t>
            </a:r>
            <a:endParaRPr b="1"/>
          </a:p>
        </p:txBody>
      </p:sp>
      <p:sp>
        <p:nvSpPr>
          <p:cNvPr id="60" name="Google Shape;60;p13"/>
          <p:cNvSpPr txBox="1"/>
          <p:nvPr>
            <p:ph idx="1" type="subTitle"/>
          </p:nvPr>
        </p:nvSpPr>
        <p:spPr>
          <a:xfrm>
            <a:off x="512700" y="3840650"/>
            <a:ext cx="8207400" cy="787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Group 3: Amelia Poulton, Anouska Jadhav, Brian McKeown,   </a:t>
            </a:r>
            <a:endParaRPr/>
          </a:p>
          <a:p>
            <a:pPr indent="457200" lvl="0" marL="457200" rtl="0" algn="l">
              <a:spcBef>
                <a:spcPts val="0"/>
              </a:spcBef>
              <a:spcAft>
                <a:spcPts val="0"/>
              </a:spcAft>
              <a:buNone/>
            </a:pPr>
            <a:r>
              <a:rPr lang="en"/>
              <a:t>    and Jameson Tuck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Problem Statement</a:t>
            </a:r>
            <a:endParaRPr b="1"/>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The goal of this analysis is to investigate the factors influencing insurance costs (charges) and quantify their impact. Specifically, we aim to assess how demographic and lifestyle variables, such as age, sex, BMI, smoker status, number of children, and region, contribute to variations in insurance charges.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analysis will focus on identifying relationships between these predictor variables and insurance costs to provide insights into their relative importance and potential predictive power.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Key Hypotheses</a:t>
            </a:r>
            <a:endParaRPr b="1"/>
          </a:p>
        </p:txBody>
      </p:sp>
      <p:sp>
        <p:nvSpPr>
          <p:cNvPr id="72" name="Google Shape;72;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p>
          <a:p>
            <a:pPr indent="-342900" lvl="0" marL="457200" rtl="0" algn="l">
              <a:spcBef>
                <a:spcPts val="1200"/>
              </a:spcBef>
              <a:spcAft>
                <a:spcPts val="0"/>
              </a:spcAft>
              <a:buSzPts val="1800"/>
              <a:buFont typeface="Arial"/>
              <a:buChar char="●"/>
            </a:pPr>
            <a:r>
              <a:rPr lang="en"/>
              <a:t>Insurance costs are higher for individuals who smoke.</a:t>
            </a:r>
            <a:endParaRPr/>
          </a:p>
          <a:p>
            <a:pPr indent="-342900" lvl="0" marL="457200" rtl="0" algn="l">
              <a:spcBef>
                <a:spcPts val="0"/>
              </a:spcBef>
              <a:spcAft>
                <a:spcPts val="0"/>
              </a:spcAft>
              <a:buSzPts val="1800"/>
              <a:buFont typeface="Arial"/>
              <a:buChar char="●"/>
            </a:pPr>
            <a:r>
              <a:rPr lang="en"/>
              <a:t>Individuals with a lower BMI incur lower insurance costs.</a:t>
            </a:r>
            <a:endParaRPr/>
          </a:p>
          <a:p>
            <a:pPr indent="-342900" lvl="0" marL="457200" rtl="0" algn="l">
              <a:spcBef>
                <a:spcPts val="0"/>
              </a:spcBef>
              <a:spcAft>
                <a:spcPts val="0"/>
              </a:spcAft>
              <a:buSzPts val="1800"/>
              <a:buFont typeface="Arial"/>
              <a:buChar char="●"/>
            </a:pPr>
            <a:r>
              <a:rPr lang="en"/>
              <a:t>Having children increases insurance costs.</a:t>
            </a:r>
            <a:endParaRPr/>
          </a:p>
          <a:p>
            <a:pPr indent="-342900" lvl="0" marL="457200" rtl="0" algn="l">
              <a:spcBef>
                <a:spcPts val="0"/>
              </a:spcBef>
              <a:spcAft>
                <a:spcPts val="0"/>
              </a:spcAft>
              <a:buSzPts val="1800"/>
              <a:buFont typeface="Arial"/>
              <a:buChar char="●"/>
            </a:pPr>
            <a:r>
              <a:rPr lang="en"/>
              <a:t>Older individuals face higher insurance costs.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Collection, </a:t>
            </a:r>
            <a:r>
              <a:rPr b="1" lang="en"/>
              <a:t>Cleaning, and Preparation</a:t>
            </a:r>
            <a:endParaRPr b="1"/>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n"/>
              <a:t>The data was collected and loaded using Kaggle</a:t>
            </a:r>
            <a:endParaRPr/>
          </a:p>
          <a:p>
            <a:pPr indent="-342900" lvl="0" marL="457200" rtl="0" algn="l">
              <a:spcBef>
                <a:spcPts val="0"/>
              </a:spcBef>
              <a:spcAft>
                <a:spcPts val="0"/>
              </a:spcAft>
              <a:buSzPts val="1800"/>
              <a:buChar char="●"/>
            </a:pPr>
            <a:r>
              <a:rPr lang="en"/>
              <a:t>The collected data was then cleaned by inspecting the shape of the dataframe and dropping rows with any missing values</a:t>
            </a:r>
            <a:endParaRPr/>
          </a:p>
          <a:p>
            <a:pPr indent="-342900" lvl="0" marL="457200" rtl="0" algn="l">
              <a:spcBef>
                <a:spcPts val="0"/>
              </a:spcBef>
              <a:spcAft>
                <a:spcPts val="0"/>
              </a:spcAft>
              <a:buSzPts val="1800"/>
              <a:buChar char="●"/>
            </a:pPr>
            <a:r>
              <a:rPr lang="en"/>
              <a:t>The categorical variables were transformed using OneHotEncoder and the original columns were dropped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Exploratory Data Analysis (EDA)</a:t>
            </a:r>
            <a:endParaRPr b="1"/>
          </a:p>
        </p:txBody>
      </p:sp>
      <p:sp>
        <p:nvSpPr>
          <p:cNvPr id="84" name="Google Shape;84;p17"/>
          <p:cNvSpPr txBox="1"/>
          <p:nvPr>
            <p:ph idx="1" type="body"/>
          </p:nvPr>
        </p:nvSpPr>
        <p:spPr>
          <a:xfrm>
            <a:off x="311700" y="1171600"/>
            <a:ext cx="37071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High linear correlation between smoking and charges</a:t>
            </a:r>
            <a:endParaRPr/>
          </a:p>
          <a:p>
            <a:pPr indent="-342900" lvl="0" marL="457200" rtl="0" algn="l">
              <a:spcBef>
                <a:spcPts val="0"/>
              </a:spcBef>
              <a:spcAft>
                <a:spcPts val="0"/>
              </a:spcAft>
              <a:buSzPts val="1800"/>
              <a:buChar char="●"/>
            </a:pPr>
            <a:r>
              <a:rPr lang="en"/>
              <a:t>Weak linear correlation between BMI and age to charges</a:t>
            </a:r>
            <a:endParaRPr/>
          </a:p>
          <a:p>
            <a:pPr indent="-342900" lvl="0" marL="457200" rtl="0" algn="l">
              <a:spcBef>
                <a:spcPts val="0"/>
              </a:spcBef>
              <a:spcAft>
                <a:spcPts val="0"/>
              </a:spcAft>
              <a:buSzPts val="1800"/>
              <a:buChar char="●"/>
            </a:pPr>
            <a:r>
              <a:rPr lang="en"/>
              <a:t>No linear correlation between children and charges</a:t>
            </a:r>
            <a:endParaRPr/>
          </a:p>
        </p:txBody>
      </p:sp>
      <p:pic>
        <p:nvPicPr>
          <p:cNvPr id="85" name="Google Shape;85;p17"/>
          <p:cNvPicPr preferRelativeResize="0"/>
          <p:nvPr/>
        </p:nvPicPr>
        <p:blipFill rotWithShape="1">
          <a:blip r:embed="rId3">
            <a:alphaModFix/>
          </a:blip>
          <a:srcRect b="0" l="-4060" r="4060" t="0"/>
          <a:stretch/>
        </p:blipFill>
        <p:spPr>
          <a:xfrm>
            <a:off x="4197353" y="1058213"/>
            <a:ext cx="3876999" cy="3554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147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b="1" lang="en"/>
              <a:t>Exploratory Data Analysis (EDA) and Visualization</a:t>
            </a:r>
            <a:endParaRPr b="1"/>
          </a:p>
          <a:p>
            <a:pPr indent="0" lvl="0" marL="0" rtl="0" algn="l">
              <a:spcBef>
                <a:spcPts val="0"/>
              </a:spcBef>
              <a:spcAft>
                <a:spcPts val="0"/>
              </a:spcAft>
              <a:buNone/>
            </a:pPr>
            <a:r>
              <a:t/>
            </a:r>
            <a:endParaRPr/>
          </a:p>
        </p:txBody>
      </p:sp>
      <p:pic>
        <p:nvPicPr>
          <p:cNvPr id="91" name="Google Shape;91;p18"/>
          <p:cNvPicPr preferRelativeResize="0"/>
          <p:nvPr/>
        </p:nvPicPr>
        <p:blipFill>
          <a:blip r:embed="rId3">
            <a:alphaModFix/>
          </a:blip>
          <a:stretch>
            <a:fillRect/>
          </a:stretch>
        </p:blipFill>
        <p:spPr>
          <a:xfrm>
            <a:off x="4855125" y="965125"/>
            <a:ext cx="3554100" cy="3592885"/>
          </a:xfrm>
          <a:prstGeom prst="rect">
            <a:avLst/>
          </a:prstGeom>
          <a:noFill/>
          <a:ln>
            <a:noFill/>
          </a:ln>
        </p:spPr>
      </p:pic>
      <p:pic>
        <p:nvPicPr>
          <p:cNvPr id="92" name="Google Shape;92;p18"/>
          <p:cNvPicPr preferRelativeResize="0"/>
          <p:nvPr/>
        </p:nvPicPr>
        <p:blipFill>
          <a:blip r:embed="rId4">
            <a:alphaModFix/>
          </a:blip>
          <a:stretch>
            <a:fillRect/>
          </a:stretch>
        </p:blipFill>
        <p:spPr>
          <a:xfrm>
            <a:off x="802925" y="965125"/>
            <a:ext cx="3554100" cy="3592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Continued Visualization</a:t>
            </a:r>
            <a:endParaRPr b="1"/>
          </a:p>
        </p:txBody>
      </p:sp>
      <p:pic>
        <p:nvPicPr>
          <p:cNvPr id="98" name="Google Shape;98;p19"/>
          <p:cNvPicPr preferRelativeResize="0"/>
          <p:nvPr/>
        </p:nvPicPr>
        <p:blipFill>
          <a:blip r:embed="rId3">
            <a:alphaModFix/>
          </a:blip>
          <a:stretch>
            <a:fillRect/>
          </a:stretch>
        </p:blipFill>
        <p:spPr>
          <a:xfrm>
            <a:off x="311700" y="1396575"/>
            <a:ext cx="3985950" cy="2758049"/>
          </a:xfrm>
          <a:prstGeom prst="rect">
            <a:avLst/>
          </a:prstGeom>
          <a:noFill/>
          <a:ln>
            <a:noFill/>
          </a:ln>
        </p:spPr>
      </p:pic>
      <p:pic>
        <p:nvPicPr>
          <p:cNvPr id="99" name="Google Shape;99;p19"/>
          <p:cNvPicPr preferRelativeResize="0"/>
          <p:nvPr/>
        </p:nvPicPr>
        <p:blipFill>
          <a:blip r:embed="rId4">
            <a:alphaModFix/>
          </a:blip>
          <a:stretch>
            <a:fillRect/>
          </a:stretch>
        </p:blipFill>
        <p:spPr>
          <a:xfrm>
            <a:off x="4780000" y="1396575"/>
            <a:ext cx="4098215" cy="2758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Models and Regularization Techniques</a:t>
            </a:r>
            <a:endParaRPr b="1"/>
          </a:p>
        </p:txBody>
      </p:sp>
      <p:sp>
        <p:nvSpPr>
          <p:cNvPr id="105" name="Google Shape;105;p20"/>
          <p:cNvSpPr txBox="1"/>
          <p:nvPr>
            <p:ph idx="1" type="body"/>
          </p:nvPr>
        </p:nvSpPr>
        <p:spPr>
          <a:xfrm>
            <a:off x="311700" y="1171600"/>
            <a:ext cx="82764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Linear regression with L1 (LASSO) regularization</a:t>
            </a:r>
            <a:endParaRPr/>
          </a:p>
          <a:p>
            <a:pPr indent="-342900" lvl="0" marL="457200" rtl="0" algn="l">
              <a:spcBef>
                <a:spcPts val="0"/>
              </a:spcBef>
              <a:spcAft>
                <a:spcPts val="0"/>
              </a:spcAft>
              <a:buSzPts val="1800"/>
              <a:buChar char="●"/>
            </a:pPr>
            <a:r>
              <a:rPr lang="en"/>
              <a:t>Decision Tree with GridSearchCV - performs grid search across a range of hyperparameters</a:t>
            </a:r>
            <a:endParaRPr/>
          </a:p>
          <a:p>
            <a:pPr indent="-342900" lvl="0" marL="457200" rtl="0" algn="l">
              <a:spcBef>
                <a:spcPts val="0"/>
              </a:spcBef>
              <a:spcAft>
                <a:spcPts val="0"/>
              </a:spcAft>
              <a:buSzPts val="1800"/>
              <a:buChar char="●"/>
            </a:pPr>
            <a:r>
              <a:rPr lang="en"/>
              <a:t>Random Forest with </a:t>
            </a:r>
            <a:r>
              <a:rPr lang="en"/>
              <a:t>with GridSearchCV to tune hyperparameters (ie. max depth and split)</a:t>
            </a:r>
            <a:endParaRPr/>
          </a:p>
          <a:p>
            <a:pPr indent="-342900" lvl="0" marL="457200" rtl="0" algn="l">
              <a:spcBef>
                <a:spcPts val="0"/>
              </a:spcBef>
              <a:spcAft>
                <a:spcPts val="0"/>
              </a:spcAft>
              <a:buSzPts val="1800"/>
              <a:buChar char="●"/>
            </a:pPr>
            <a:r>
              <a:rPr lang="en"/>
              <a:t>K-nearest neighbors with standardized data and optimal K value</a:t>
            </a:r>
            <a:endParaRPr/>
          </a:p>
          <a:p>
            <a:pPr indent="-342900" lvl="0" marL="457200" rtl="0" algn="l">
              <a:spcBef>
                <a:spcPts val="0"/>
              </a:spcBef>
              <a:spcAft>
                <a:spcPts val="0"/>
              </a:spcAft>
              <a:buSzPts val="1800"/>
              <a:buChar char="●"/>
            </a:pPr>
            <a:r>
              <a:rPr lang="en"/>
              <a:t>Dense neural network with dropout layers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Results</a:t>
            </a:r>
            <a:endParaRPr b="1"/>
          </a:p>
        </p:txBody>
      </p:sp>
      <p:graphicFrame>
        <p:nvGraphicFramePr>
          <p:cNvPr id="111" name="Google Shape;111;p21"/>
          <p:cNvGraphicFramePr/>
          <p:nvPr/>
        </p:nvGraphicFramePr>
        <p:xfrm>
          <a:off x="952500" y="1291725"/>
          <a:ext cx="3000000" cy="3000000"/>
        </p:xfrm>
        <a:graphic>
          <a:graphicData uri="http://schemas.openxmlformats.org/drawingml/2006/table">
            <a:tbl>
              <a:tblPr>
                <a:noFill/>
                <a:tableStyleId>{888050D8-4B33-4DE7-AAC4-F291C8E1E9FE}</a:tableStyleId>
              </a:tblPr>
              <a:tblGrid>
                <a:gridCol w="2413000"/>
                <a:gridCol w="2413000"/>
                <a:gridCol w="2413000"/>
              </a:tblGrid>
              <a:tr h="350775">
                <a:tc>
                  <a:txBody>
                    <a:bodyPr/>
                    <a:lstStyle/>
                    <a:p>
                      <a:pPr indent="0" lvl="0" marL="0" rtl="0" algn="l">
                        <a:spcBef>
                          <a:spcPts val="0"/>
                        </a:spcBef>
                        <a:spcAft>
                          <a:spcPts val="0"/>
                        </a:spcAft>
                        <a:buNone/>
                      </a:pPr>
                      <a:r>
                        <a:rPr b="1" lang="en" sz="1600">
                          <a:latin typeface="Old Standard TT"/>
                          <a:ea typeface="Old Standard TT"/>
                          <a:cs typeface="Old Standard TT"/>
                          <a:sym typeface="Old Standard TT"/>
                        </a:rPr>
                        <a:t>Model</a:t>
                      </a:r>
                      <a:endParaRPr b="1"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b="1" lang="en" sz="1600">
                          <a:latin typeface="Old Standard TT"/>
                          <a:ea typeface="Old Standard TT"/>
                          <a:cs typeface="Old Standard TT"/>
                          <a:sym typeface="Old Standard TT"/>
                        </a:rPr>
                        <a:t>Train MSE</a:t>
                      </a:r>
                      <a:endParaRPr b="1"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b="1" lang="en" sz="1600">
                          <a:latin typeface="Old Standard TT"/>
                          <a:ea typeface="Old Standard TT"/>
                          <a:cs typeface="Old Standard TT"/>
                          <a:sym typeface="Old Standard TT"/>
                        </a:rPr>
                        <a:t>Test MSE</a:t>
                      </a:r>
                      <a:endParaRPr b="1" sz="1600">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Linear Regression</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37,277,711</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33,605,932</a:t>
                      </a:r>
                      <a:endParaRPr sz="1600">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Decision Tree</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21,120,357</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22,812,669</a:t>
                      </a:r>
                      <a:endParaRPr sz="1600">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Random Forest</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8,273,732</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20,155,211</a:t>
                      </a:r>
                      <a:endParaRPr sz="1600">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Dense Neural Network</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34,704,355</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30,746,318</a:t>
                      </a:r>
                      <a:endParaRPr sz="1600">
                        <a:latin typeface="Old Standard TT"/>
                        <a:ea typeface="Old Standard TT"/>
                        <a:cs typeface="Old Standard TT"/>
                        <a:sym typeface="Old Standard TT"/>
                      </a:endParaRPr>
                    </a:p>
                  </a:txBody>
                  <a:tcPr marT="91425" marB="91425" marR="91425" marL="91425"/>
                </a:tc>
              </a:tr>
              <a:tr h="381000">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K-</a:t>
                      </a:r>
                      <a:r>
                        <a:rPr lang="en" sz="1600">
                          <a:latin typeface="Old Standard TT"/>
                          <a:ea typeface="Old Standard TT"/>
                          <a:cs typeface="Old Standard TT"/>
                          <a:sym typeface="Old Standard TT"/>
                        </a:rPr>
                        <a:t>Nearest</a:t>
                      </a:r>
                      <a:r>
                        <a:rPr lang="en" sz="1600">
                          <a:latin typeface="Old Standard TT"/>
                          <a:ea typeface="Old Standard TT"/>
                          <a:cs typeface="Old Standard TT"/>
                          <a:sym typeface="Old Standard TT"/>
                        </a:rPr>
                        <a:t> Neighbor</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18,119,239</a:t>
                      </a:r>
                      <a:endParaRPr sz="1600">
                        <a:latin typeface="Old Standard TT"/>
                        <a:ea typeface="Old Standard TT"/>
                        <a:cs typeface="Old Standard TT"/>
                        <a:sym typeface="Old Standard TT"/>
                      </a:endParaRPr>
                    </a:p>
                  </a:txBody>
                  <a:tcPr marT="91425" marB="91425" marR="91425" marL="91425"/>
                </a:tc>
                <a:tc>
                  <a:txBody>
                    <a:bodyPr/>
                    <a:lstStyle/>
                    <a:p>
                      <a:pPr indent="0" lvl="0" marL="0" rtl="0" algn="l">
                        <a:spcBef>
                          <a:spcPts val="0"/>
                        </a:spcBef>
                        <a:spcAft>
                          <a:spcPts val="0"/>
                        </a:spcAft>
                        <a:buNone/>
                      </a:pPr>
                      <a:r>
                        <a:rPr lang="en" sz="1600">
                          <a:latin typeface="Old Standard TT"/>
                          <a:ea typeface="Old Standard TT"/>
                          <a:cs typeface="Old Standard TT"/>
                          <a:sym typeface="Old Standard TT"/>
                        </a:rPr>
                        <a:t>29,058,240</a:t>
                      </a:r>
                      <a:endParaRPr sz="1600">
                        <a:latin typeface="Old Standard TT"/>
                        <a:ea typeface="Old Standard TT"/>
                        <a:cs typeface="Old Standard TT"/>
                        <a:sym typeface="Old Standard TT"/>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Analysis</a:t>
            </a:r>
            <a:endParaRPr b="1"/>
          </a:p>
        </p:txBody>
      </p:sp>
      <p:sp>
        <p:nvSpPr>
          <p:cNvPr id="117" name="Google Shape;117;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Even though the MSEs are quite large, we are working with large numbers so this is natural.</a:t>
            </a:r>
            <a:endParaRPr/>
          </a:p>
          <a:p>
            <a:pPr indent="-342900" lvl="0" marL="457200" rtl="0" algn="l">
              <a:spcBef>
                <a:spcPts val="0"/>
              </a:spcBef>
              <a:spcAft>
                <a:spcPts val="0"/>
              </a:spcAft>
              <a:buSzPts val="1800"/>
              <a:buChar char="●"/>
            </a:pPr>
            <a:r>
              <a:rPr lang="en"/>
              <a:t>The values still seem quite large when you take the root of them, but this is because of outlier data points and in most cases, the model generalizes to a few hundred dollars off the actual value.</a:t>
            </a:r>
            <a:endParaRPr/>
          </a:p>
          <a:p>
            <a:pPr indent="-342900" lvl="0" marL="457200" rtl="0" algn="l">
              <a:spcBef>
                <a:spcPts val="0"/>
              </a:spcBef>
              <a:spcAft>
                <a:spcPts val="0"/>
              </a:spcAft>
              <a:buSzPts val="1800"/>
              <a:buChar char="●"/>
            </a:pPr>
            <a:r>
              <a:rPr lang="en"/>
              <a:t>The best </a:t>
            </a:r>
            <a:r>
              <a:rPr lang="en"/>
              <a:t>performing model was the random forest model.</a:t>
            </a:r>
            <a:endParaRPr/>
          </a:p>
          <a:p>
            <a:pPr indent="-317500" lvl="1" marL="914400" rtl="0" algn="l">
              <a:spcBef>
                <a:spcPts val="0"/>
              </a:spcBef>
              <a:spcAft>
                <a:spcPts val="0"/>
              </a:spcAft>
              <a:buSzPts val="1400"/>
              <a:buChar char="○"/>
            </a:pPr>
            <a:r>
              <a:rPr lang="en"/>
              <a:t>The Test MSE for this model is significantly higher than the Train MSE implying that the model is overfit, however it still performs best comparatively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Conclusion</a:t>
            </a:r>
            <a:endParaRPr b="1"/>
          </a:p>
        </p:txBody>
      </p:sp>
      <p:sp>
        <p:nvSpPr>
          <p:cNvPr id="123" name="Google Shape;123;p23"/>
          <p:cNvSpPr txBox="1"/>
          <p:nvPr>
            <p:ph idx="1" type="body"/>
          </p:nvPr>
        </p:nvSpPr>
        <p:spPr>
          <a:xfrm>
            <a:off x="311700" y="1127625"/>
            <a:ext cx="5195100" cy="3697200"/>
          </a:xfrm>
          <a:prstGeom prst="rect">
            <a:avLst/>
          </a:prstGeom>
        </p:spPr>
        <p:txBody>
          <a:bodyPr anchorCtr="0" anchor="t" bIns="91425" lIns="91425" spcFirstLastPara="1" rIns="91425" wrap="square" tIns="91425">
            <a:noAutofit/>
          </a:bodyPr>
          <a:lstStyle/>
          <a:p>
            <a:pPr indent="-334327" lvl="0" marL="457200" rtl="0" algn="l">
              <a:lnSpc>
                <a:spcPct val="105000"/>
              </a:lnSpc>
              <a:spcBef>
                <a:spcPts val="0"/>
              </a:spcBef>
              <a:spcAft>
                <a:spcPts val="0"/>
              </a:spcAft>
              <a:buSzPts val="1665"/>
              <a:buChar char="●"/>
            </a:pPr>
            <a:r>
              <a:rPr lang="en" sz="1665"/>
              <a:t>Key Insights</a:t>
            </a:r>
            <a:endParaRPr sz="1665"/>
          </a:p>
          <a:p>
            <a:pPr indent="-311150" lvl="1" marL="914400" rtl="0" algn="l">
              <a:lnSpc>
                <a:spcPct val="105000"/>
              </a:lnSpc>
              <a:spcBef>
                <a:spcPts val="0"/>
              </a:spcBef>
              <a:spcAft>
                <a:spcPts val="0"/>
              </a:spcAft>
              <a:buSzPts val="1300"/>
              <a:buChar char="○"/>
            </a:pPr>
            <a:r>
              <a:rPr lang="en" sz="1300"/>
              <a:t>Best Model: The Random Forest model outperformed other models, achieving the lowest test MSE.</a:t>
            </a:r>
            <a:endParaRPr sz="1300"/>
          </a:p>
          <a:p>
            <a:pPr indent="-311150" lvl="1" marL="914400" rtl="0" algn="l">
              <a:lnSpc>
                <a:spcPct val="105000"/>
              </a:lnSpc>
              <a:spcBef>
                <a:spcPts val="0"/>
              </a:spcBef>
              <a:spcAft>
                <a:spcPts val="0"/>
              </a:spcAft>
              <a:buSzPts val="1300"/>
              <a:buChar char="○"/>
            </a:pPr>
            <a:r>
              <a:rPr lang="en" sz="1300"/>
              <a:t>Key Predictors: Analysis of Random Forest feature importance revealed that smoker status, bmi, and age are the most influential variables in predicting insurance charges.</a:t>
            </a:r>
            <a:endParaRPr sz="1300">
              <a:highlight>
                <a:srgbClr val="FFFF00"/>
              </a:highlight>
            </a:endParaRPr>
          </a:p>
          <a:p>
            <a:pPr indent="-334327" lvl="0" marL="457200" rtl="0" algn="l">
              <a:lnSpc>
                <a:spcPct val="105000"/>
              </a:lnSpc>
              <a:spcBef>
                <a:spcPts val="0"/>
              </a:spcBef>
              <a:spcAft>
                <a:spcPts val="0"/>
              </a:spcAft>
              <a:buSzPts val="1665"/>
              <a:buChar char="●"/>
            </a:pPr>
            <a:r>
              <a:rPr lang="en" sz="1665"/>
              <a:t>Limitations</a:t>
            </a:r>
            <a:endParaRPr sz="1665"/>
          </a:p>
          <a:p>
            <a:pPr indent="-311150" lvl="1" marL="914400" rtl="0" algn="l">
              <a:lnSpc>
                <a:spcPct val="105000"/>
              </a:lnSpc>
              <a:spcBef>
                <a:spcPts val="0"/>
              </a:spcBef>
              <a:spcAft>
                <a:spcPts val="0"/>
              </a:spcAft>
              <a:buSzPts val="1300"/>
              <a:buChar char="○"/>
            </a:pPr>
            <a:r>
              <a:rPr lang="en" sz="1300"/>
              <a:t>Overfitting in the Random Forest model indicates a need for further regularization or additional training data.</a:t>
            </a:r>
            <a:endParaRPr sz="1300"/>
          </a:p>
          <a:p>
            <a:pPr indent="-334327" lvl="0" marL="457200" rtl="0" algn="l">
              <a:lnSpc>
                <a:spcPct val="105000"/>
              </a:lnSpc>
              <a:spcBef>
                <a:spcPts val="0"/>
              </a:spcBef>
              <a:spcAft>
                <a:spcPts val="0"/>
              </a:spcAft>
              <a:buSzPts val="1665"/>
              <a:buChar char="●"/>
            </a:pPr>
            <a:r>
              <a:rPr lang="en" sz="1665"/>
              <a:t>Future Directions</a:t>
            </a:r>
            <a:endParaRPr sz="1665"/>
          </a:p>
          <a:p>
            <a:pPr indent="-311150" lvl="1" marL="914400" rtl="0" algn="l">
              <a:lnSpc>
                <a:spcPct val="105000"/>
              </a:lnSpc>
              <a:spcBef>
                <a:spcPts val="0"/>
              </a:spcBef>
              <a:spcAft>
                <a:spcPts val="0"/>
              </a:spcAft>
              <a:buSzPts val="1300"/>
              <a:buChar char="○"/>
            </a:pPr>
            <a:r>
              <a:rPr lang="en" sz="1300"/>
              <a:t>Incorporate additional predictors, such as exercise habits or family medical history, to improve predictive power.</a:t>
            </a:r>
            <a:endParaRPr sz="1300"/>
          </a:p>
        </p:txBody>
      </p:sp>
      <p:pic>
        <p:nvPicPr>
          <p:cNvPr id="124" name="Google Shape;124;p23"/>
          <p:cNvPicPr preferRelativeResize="0"/>
          <p:nvPr/>
        </p:nvPicPr>
        <p:blipFill>
          <a:blip r:embed="rId3">
            <a:alphaModFix/>
          </a:blip>
          <a:stretch>
            <a:fillRect/>
          </a:stretch>
        </p:blipFill>
        <p:spPr>
          <a:xfrm>
            <a:off x="5694950" y="1384487"/>
            <a:ext cx="3247000" cy="2752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References</a:t>
            </a:r>
            <a:endParaRPr b="1"/>
          </a:p>
        </p:txBody>
      </p:sp>
      <p:sp>
        <p:nvSpPr>
          <p:cNvPr id="130" name="Google Shape;130;p2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u="sng">
                <a:solidFill>
                  <a:srgbClr val="1155CC"/>
                </a:solidFill>
                <a:hlinkClick r:id="rId3">
                  <a:extLst>
                    <a:ext uri="{A12FA001-AC4F-418D-AE19-62706E023703}">
                      <ahyp:hlinkClr val="tx"/>
                    </a:ext>
                  </a:extLst>
                </a:hlinkClick>
              </a:rPr>
              <a:t>https://www.kaggle.com/datasets/mirichoi0218/insurance/data</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1662000"/>
            <a:ext cx="8520600" cy="1819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b="1" lang="en" sz="7500"/>
              <a:t>Thank you!</a:t>
            </a:r>
            <a:endParaRPr b="1" sz="7500"/>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